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1" r:id="rId4"/>
    <p:sldId id="310" r:id="rId5"/>
    <p:sldId id="314" r:id="rId6"/>
    <p:sldId id="311" r:id="rId7"/>
    <p:sldId id="312" r:id="rId8"/>
    <p:sldId id="313" r:id="rId9"/>
    <p:sldId id="315" r:id="rId10"/>
    <p:sldId id="316" r:id="rId11"/>
    <p:sldId id="305" r:id="rId12"/>
    <p:sldId id="318" r:id="rId13"/>
    <p:sldId id="317" r:id="rId14"/>
    <p:sldId id="319" r:id="rId15"/>
    <p:sldId id="306" r:id="rId16"/>
    <p:sldId id="307" r:id="rId17"/>
    <p:sldId id="308" r:id="rId18"/>
    <p:sldId id="309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3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72470-5063-465C-9C66-E3B7273BE6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662D8-7D05-4A9E-AF38-DD38657B4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565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12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199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921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22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273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125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190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4B59A32-018C-CB7F-EA33-76F96673A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4DF259D2-703A-75F0-A311-C323F7025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FDBB83AE-0491-F758-8A68-8DEFF23EBE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0452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4490616C-1C0B-7C93-769C-84486684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948A91B3-4F3E-AA17-E603-2338DEB09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B8882CB3-9650-09CD-8DCA-93A172CD6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181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DC846D4C-1D2F-E27A-1996-0AF98392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FE610D48-603E-5292-19DB-18FB6343BE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3C16B0F5-18AB-4F1D-036D-246E63691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142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367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222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188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497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8" name="Google Shape;14388;g7f9262ee2f_0_24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9" name="Google Shape;14389;g7f9262ee2f_0_24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BA86-C34F-4EFC-A29C-428B3FE79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C583A-FFE4-4365-A6A6-798075830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13C5-8F74-4C92-AA13-0550D00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F894E-DF81-4B72-B94E-B695092E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CADCF-08C1-40DF-A0D1-571EC38DF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1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104A-10DC-4136-A1B4-D13F4A1A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7143D-08B5-4BA0-9351-651BA939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8A27D-958C-4CC4-9EF2-27298FEF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1D56E-52F0-4332-AFE8-810E1AA2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9A1A4-EB8B-40AA-991A-38199ED4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9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26A6-A7EF-423E-8CD3-932701F1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71C0D-2292-4A86-BE06-5BD9174BF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BDDCC-3261-468A-8522-82842C3D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20492-06E7-4923-A29E-E938D1B3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6B136-163F-402E-94CE-338186E8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4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4EBD-7566-42CE-9830-2AB5B53A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DDBE-2AAE-49E1-A528-96CCE866A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0487A-C1BA-4DE3-A303-399BC0856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88A67-01A6-405D-AB4D-D312F876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1E883-E5D0-4F85-BEAC-F91A5FE2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C784A-70C7-4AA7-A571-EDB9CEE4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8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15BD-F79D-454B-A829-54AF5A8D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3F86-CF46-4296-A524-54D6B3F31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56F07-FDCF-4961-B6DB-9EDF3A978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3F661-ECE2-46B5-A708-6B7557538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45ABE-FBA9-4FFE-84EB-20B7B1700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CAE3B-4824-46AD-BA12-3D6FD4A4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B10FE-C63D-4044-AB9B-E54BCAB2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B9940-F37C-47D0-AC6C-3807D27B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0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DE2A-F319-40E7-8214-C6CC43B7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68F15-7D95-41D4-B12E-CCFF8232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2EB01-9BFB-4B27-B301-F703FA28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E8413-065F-4365-A61E-06364EE85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2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0DF97-FE83-46E4-AF7B-89F1A46B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0E0FF-4537-4DB8-AAA9-35478A9F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266DC-89FC-45CB-A33B-B80FAEA3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8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D398-4C36-4F30-81AB-AD70611E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77127-B312-4970-8420-A58E73C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1F84E-9FD6-433C-9CFA-02A844111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4F03-BC7C-42BA-B9DB-FE896AC0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E1857-0135-401F-BDE8-ABCE8A6D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F34C1-B58B-4C9C-BAC2-DAD2216F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5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052D-9F3B-47C9-94C2-41D3C63AF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0F6A5-A0D3-47DA-A803-78A265375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F416A-BDED-4A1B-81D5-CBEC90E9E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DB552-1CC4-451C-AC58-7271B34D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963A1-F2F6-4F37-B025-C5F552F7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B45EB-0E1A-44AC-86BD-8E36AAE4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3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ACEA-8F17-418E-81F3-C4B1C46B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FED26-2C1C-48AB-96E4-188A48F05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CAB4-794A-4545-9ED2-81245209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B196-F3A7-4CB3-BEA4-96AAF92E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35B8-43AF-4CA0-A94F-D6379EC3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2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DE9AA-D5DA-47C4-855B-236F29693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445AD-20EE-4F4B-8A2E-019D33827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BD78-7C3B-4DE7-B944-83671620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0B064-BD59-44C8-B0E7-04317A9CA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078DE-002B-4C19-AB72-6A2B59A8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27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4717996" y="3487433"/>
            <a:ext cx="2756000" cy="7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4717996" y="4197433"/>
            <a:ext cx="2756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8038071" y="3487433"/>
            <a:ext cx="2756000" cy="7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8038071" y="4197433"/>
            <a:ext cx="2756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397929" y="3487433"/>
            <a:ext cx="2756000" cy="7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397929" y="4197433"/>
            <a:ext cx="2756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397933" y="2360933"/>
            <a:ext cx="2756000" cy="9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4718000" y="2360933"/>
            <a:ext cx="2756000" cy="9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8038067" y="2360933"/>
            <a:ext cx="2756000" cy="9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3794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016893" y="4237000"/>
            <a:ext cx="4091600" cy="7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97693" y="4383333"/>
            <a:ext cx="3217200" cy="12420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5016893" y="4960867"/>
            <a:ext cx="4091600" cy="6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867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854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376B2-8E8C-4431-A7FA-F7A1B32B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7061B-C41A-4FEF-88F1-6C274474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CF1-6AA9-450F-8F65-9DA7D764E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5AF15-FB70-4B16-9331-0502384C8B8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F359E-7BB7-4E2E-B5AB-439B5A537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33942-72DD-4097-BBAE-466D011A4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F3F9F-EF4C-47CF-899F-A9F5BBF1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0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0" y="2569400"/>
            <a:ext cx="11772900" cy="8596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b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 Box AI</a:t>
            </a:r>
            <a:endParaRPr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4173037" y="3583275"/>
            <a:ext cx="6740800" cy="61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200" dirty="0">
                <a:solidFill>
                  <a:schemeClr val="bg1">
                    <a:lumMod val="75000"/>
                  </a:schemeClr>
                </a:solidFill>
              </a:rPr>
              <a:t>Nhóm 4</a:t>
            </a:r>
            <a:endParaRPr sz="3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4044450" y="3386137"/>
            <a:ext cx="368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397933" y="2360933"/>
            <a:ext cx="2756000" cy="96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4717996" y="3487433"/>
            <a:ext cx="2756000" cy="7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Ứng dụng 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4717996" y="4197433"/>
            <a:ext cx="2756000" cy="164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dirty="0"/>
              <a:t>Ưu &amp; Khuyết điểm 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8038071" y="3487433"/>
            <a:ext cx="2756000" cy="7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Code &amp; Demo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397929" y="3487433"/>
            <a:ext cx="2756000" cy="7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Lý thuyết </a:t>
            </a: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397929" y="4197433"/>
            <a:ext cx="2756000" cy="164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US" dirty="0"/>
              <a:t>L</a:t>
            </a:r>
            <a:r>
              <a:rPr lang="en" dirty="0"/>
              <a:t>ọc cực tiểu và cực đại 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4718000" y="2360933"/>
            <a:ext cx="2756000" cy="96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8038067" y="2360933"/>
            <a:ext cx="2756000" cy="96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2511133" y="3394880"/>
            <a:ext cx="52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5831200" y="3394880"/>
            <a:ext cx="52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9151267" y="3394880"/>
            <a:ext cx="52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5013774" y="522613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397693" y="438333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cxnSp>
        <p:nvCxnSpPr>
          <p:cNvPr id="209" name="Google Shape;209;p43"/>
          <p:cNvCxnSpPr/>
          <p:nvPr/>
        </p:nvCxnSpPr>
        <p:spPr>
          <a:xfrm>
            <a:off x="4814333" y="4337729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447107" y="12040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AF51D-A250-4802-9B31-649FD75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794" y="2153727"/>
            <a:ext cx="7997372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Khái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niệm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cơ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bản</a:t>
            </a: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(kernel): ma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trận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vuông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kích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thước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k×k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trượt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qua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toàn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bộ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mỗi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j), ta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lấy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toàn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bộ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pixel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nằm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áp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phép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3×3)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trượt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sẽ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“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thiếu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 ở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ngoài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Padding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tạo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thêm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vùng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giả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lập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xung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để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luôn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đầy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đủ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-&gt;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Đây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gọi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phi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tuyến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(non-linear filtering).</a:t>
            </a:r>
          </a:p>
        </p:txBody>
      </p:sp>
    </p:spTree>
    <p:extLst>
      <p:ext uri="{BB962C8B-B14F-4D97-AF65-F5344CB8AC3E}">
        <p14:creationId xmlns:p14="http://schemas.microsoft.com/office/powerpoint/2010/main" val="45327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447107" y="12040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AF51D-A250-4802-9B31-649FD75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322" y="1420408"/>
            <a:ext cx="799737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Padding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D65F97-FA87-402C-932D-27D76D4E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1841367"/>
            <a:ext cx="5239658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vi-VN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Zero padding (thêm số 0)</a:t>
            </a:r>
            <a:b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 dụ: ảnh 3×3, pad=1 → viền ngoài toàn số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Dễ cài đặt.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Nhưng có thể tạo viền đen giả → kết quả không mượt.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E172E3-5337-4F7F-84D6-039759E6F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3678856"/>
            <a:ext cx="5631543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Reflect padding (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phản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chiếu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đối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xứng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Dùng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phản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chiếu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ngoài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Giúp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mượt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không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tạo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giả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[3, 5, 7] → pad 1 → [5, 3, 5, 7, 5].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85D926-D1F4-43DB-9CB8-F3E914DA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546" y="3840438"/>
            <a:ext cx="616131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Replicate padding (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lặp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lại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Sao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chép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ngoài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[3, 5, 7] → pad 1 → [3, 3, 5, 7, 7].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64FA46-1020-4922-A37C-3AAE38147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546" y="1725232"/>
            <a:ext cx="841828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Wrap padding (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tuần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hoàn</a:t>
            </a:r>
            <a:r>
              <a:rPr lang="en-US" altLang="en-US" sz="21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Lấy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ở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đầu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đưa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cuối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giống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modulo).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[3, 5, 7] → pad 1 → [7, 3, 5, 7, 3].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Ít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dùng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nhiên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nhưng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hay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dùng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định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kỳ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12" name="Google Shape;209;p43">
            <a:extLst>
              <a:ext uri="{FF2B5EF4-FFF2-40B4-BE49-F238E27FC236}">
                <a16:creationId xmlns:a16="http://schemas.microsoft.com/office/drawing/2014/main" id="{6C1B3021-A874-436F-86F9-4C726160E005}"/>
              </a:ext>
            </a:extLst>
          </p:cNvPr>
          <p:cNvCxnSpPr>
            <a:cxnSpLocks/>
          </p:cNvCxnSpPr>
          <p:nvPr/>
        </p:nvCxnSpPr>
        <p:spPr>
          <a:xfrm>
            <a:off x="5866619" y="1919787"/>
            <a:ext cx="0" cy="308764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64733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447107" y="12040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AF51D-A250-4802-9B31-649FD75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114" y="1388873"/>
            <a:ext cx="799737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đại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(Max filter)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bằng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lớn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nhất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lân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cận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en-US" alt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AD5C4-C797-47C9-890F-9F2F255D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360" y="2612285"/>
            <a:ext cx="5241292" cy="127836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D65F97-FA87-402C-932D-27D76D4E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42" y="4103516"/>
            <a:ext cx="817154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gốc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f(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g(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Miền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lân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cận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/ kernel)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: N(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b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3×3,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thì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gồm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pixel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xung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272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447107" y="12040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AF51D-A250-4802-9B31-649FD75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114" y="1388872"/>
            <a:ext cx="799737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đại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(Max filter)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Tức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bằng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giá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trị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nhỏ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nhất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lân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cận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D65F97-FA87-402C-932D-27D76D4E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42" y="4103516"/>
            <a:ext cx="817154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gốc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f(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g(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Miền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lân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cận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/ kernel)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: N(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b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3×3,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thì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gồm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pixel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xung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6EFA1-0D7A-48CE-986E-7C2FE775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49" y="2615060"/>
            <a:ext cx="4686701" cy="124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3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447107" y="12040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AF51D-A250-4802-9B31-649FD75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114" y="1712037"/>
            <a:ext cx="799737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VD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tiểu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gốc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f(</a:t>
            </a:r>
            <a:r>
              <a:rPr lang="en-US" alt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x,y</a:t>
            </a: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3x3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2EF7DF-6D42-4657-B124-232D686C9FD4}"/>
                  </a:ext>
                </a:extLst>
              </p:cNvPr>
              <p:cNvSpPr txBox="1"/>
              <p:nvPr/>
            </p:nvSpPr>
            <p:spPr>
              <a:xfrm>
                <a:off x="1770093" y="2510437"/>
                <a:ext cx="1947649" cy="8611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2EF7DF-6D42-4657-B124-232D686C9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093" y="2510437"/>
                <a:ext cx="1947649" cy="861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352E9F7-A977-48DE-9237-C6C1CA658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114" y="3817872"/>
            <a:ext cx="799737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Sau reflect 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CC60F4-DAB3-4629-9ABE-634B92E9C848}"/>
                  </a:ext>
                </a:extLst>
              </p:cNvPr>
              <p:cNvSpPr txBox="1"/>
              <p:nvPr/>
            </p:nvSpPr>
            <p:spPr>
              <a:xfrm>
                <a:off x="1224287" y="4318948"/>
                <a:ext cx="3380733" cy="14860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US" sz="21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120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</m:mr>
                        <m:mr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CC60F4-DAB3-4629-9ABE-634B92E9C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87" y="4318948"/>
                <a:ext cx="3380733" cy="1486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32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262181" y="208804"/>
            <a:ext cx="3217200" cy="7385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2EF7DF-6D42-4657-B124-232D686C9FD4}"/>
                  </a:ext>
                </a:extLst>
              </p:cNvPr>
              <p:cNvSpPr txBox="1"/>
              <p:nvPr/>
            </p:nvSpPr>
            <p:spPr>
              <a:xfrm>
                <a:off x="1666994" y="1882063"/>
                <a:ext cx="1947648" cy="854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120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2EF7DF-6D42-4657-B124-232D686C9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94" y="1882063"/>
                <a:ext cx="1947648" cy="854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E5F9578-0B35-4778-85A6-EC02DFFFDE62}"/>
              </a:ext>
            </a:extLst>
          </p:cNvPr>
          <p:cNvSpPr txBox="1"/>
          <p:nvPr/>
        </p:nvSpPr>
        <p:spPr>
          <a:xfrm>
            <a:off x="1194619" y="1408003"/>
            <a:ext cx="68874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(0,0) = 120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B0D939-A48D-455C-A259-3E368BC4C228}"/>
              </a:ext>
            </a:extLst>
          </p:cNvPr>
          <p:cNvSpPr txBox="1"/>
          <p:nvPr/>
        </p:nvSpPr>
        <p:spPr>
          <a:xfrm>
            <a:off x="1219606" y="2726710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80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80AA3F-2E59-496A-8607-343C9F1DAD5A}"/>
              </a:ext>
            </a:extLst>
          </p:cNvPr>
          <p:cNvSpPr txBox="1"/>
          <p:nvPr/>
        </p:nvSpPr>
        <p:spPr>
          <a:xfrm>
            <a:off x="1194619" y="3125537"/>
            <a:ext cx="68808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(0,1) = 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1F8A6A-F6BF-4870-9672-0D3BAE6B7238}"/>
                  </a:ext>
                </a:extLst>
              </p:cNvPr>
              <p:cNvSpPr txBox="1"/>
              <p:nvPr/>
            </p:nvSpPr>
            <p:spPr>
              <a:xfrm>
                <a:off x="1666994" y="3532671"/>
                <a:ext cx="1947648" cy="854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120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1F8A6A-F6BF-4870-9672-0D3BAE6B7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94" y="3532671"/>
                <a:ext cx="1947648" cy="854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755D12A-0D11-4076-9206-1A52C3B0CA90}"/>
              </a:ext>
            </a:extLst>
          </p:cNvPr>
          <p:cNvSpPr txBox="1"/>
          <p:nvPr/>
        </p:nvSpPr>
        <p:spPr>
          <a:xfrm>
            <a:off x="1219606" y="4396123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80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FC1E10-F2BA-4B0D-B654-18B2E518CDFC}"/>
              </a:ext>
            </a:extLst>
          </p:cNvPr>
          <p:cNvSpPr txBox="1"/>
          <p:nvPr/>
        </p:nvSpPr>
        <p:spPr>
          <a:xfrm>
            <a:off x="1195981" y="4818158"/>
            <a:ext cx="68861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(0,2) = 150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C4360B-C976-4DC2-B484-536905CB1E43}"/>
                  </a:ext>
                </a:extLst>
              </p:cNvPr>
              <p:cNvSpPr txBox="1"/>
              <p:nvPr/>
            </p:nvSpPr>
            <p:spPr>
              <a:xfrm>
                <a:off x="1666994" y="5304016"/>
                <a:ext cx="1947649" cy="854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C4360B-C976-4DC2-B484-536905CB1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94" y="5304016"/>
                <a:ext cx="1947649" cy="8545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71AC63A-9F2D-4577-A7AF-0FCA77F5ABAE}"/>
              </a:ext>
            </a:extLst>
          </p:cNvPr>
          <p:cNvSpPr txBox="1"/>
          <p:nvPr/>
        </p:nvSpPr>
        <p:spPr>
          <a:xfrm>
            <a:off x="1219606" y="6074028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80</a:t>
            </a:r>
          </a:p>
        </p:txBody>
      </p:sp>
      <p:cxnSp>
        <p:nvCxnSpPr>
          <p:cNvPr id="24" name="Google Shape;209;p43">
            <a:extLst>
              <a:ext uri="{FF2B5EF4-FFF2-40B4-BE49-F238E27FC236}">
                <a16:creationId xmlns:a16="http://schemas.microsoft.com/office/drawing/2014/main" id="{72B1B412-61AD-4DE2-81B8-5117DC12C95E}"/>
              </a:ext>
            </a:extLst>
          </p:cNvPr>
          <p:cNvCxnSpPr>
            <a:cxnSpLocks/>
          </p:cNvCxnSpPr>
          <p:nvPr/>
        </p:nvCxnSpPr>
        <p:spPr>
          <a:xfrm>
            <a:off x="3890499" y="1408003"/>
            <a:ext cx="0" cy="475060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4B7975-1187-4633-A353-49D7662C74CF}"/>
              </a:ext>
            </a:extLst>
          </p:cNvPr>
          <p:cNvSpPr txBox="1"/>
          <p:nvPr/>
        </p:nvSpPr>
        <p:spPr>
          <a:xfrm>
            <a:off x="4231438" y="1443543"/>
            <a:ext cx="22759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(1,0) = 200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FFBFD8-65BB-4C9F-B9D6-2E8C35EED2F3}"/>
                  </a:ext>
                </a:extLst>
              </p:cNvPr>
              <p:cNvSpPr txBox="1"/>
              <p:nvPr/>
            </p:nvSpPr>
            <p:spPr>
              <a:xfrm>
                <a:off x="4391371" y="1852803"/>
                <a:ext cx="1947648" cy="854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120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FFBFD8-65BB-4C9F-B9D6-2E8C35EED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371" y="1852803"/>
                <a:ext cx="1947648" cy="8545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C1AF05E-2CD1-45AA-9D10-4F7F05B9DF91}"/>
              </a:ext>
            </a:extLst>
          </p:cNvPr>
          <p:cNvSpPr txBox="1"/>
          <p:nvPr/>
        </p:nvSpPr>
        <p:spPr>
          <a:xfrm>
            <a:off x="4231438" y="2777457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60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785BAA-1ED1-40DE-93DF-96927F7A7F0D}"/>
              </a:ext>
            </a:extLst>
          </p:cNvPr>
          <p:cNvSpPr txBox="1"/>
          <p:nvPr/>
        </p:nvSpPr>
        <p:spPr>
          <a:xfrm>
            <a:off x="4191612" y="3106222"/>
            <a:ext cx="20399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(1,1)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111D3C-350F-4B73-A74F-BEDEA8BFFC37}"/>
                  </a:ext>
                </a:extLst>
              </p:cNvPr>
              <p:cNvSpPr txBox="1"/>
              <p:nvPr/>
            </p:nvSpPr>
            <p:spPr>
              <a:xfrm>
                <a:off x="4399612" y="3512193"/>
                <a:ext cx="1947648" cy="854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111D3C-350F-4B73-A74F-BEDEA8BFF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12" y="3512193"/>
                <a:ext cx="1947648" cy="854593"/>
              </a:xfrm>
              <a:prstGeom prst="rect">
                <a:avLst/>
              </a:prstGeom>
              <a:blipFill>
                <a:blip r:embed="rId7"/>
                <a:stretch>
                  <a:fillRect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D83D5585-BA75-4A45-AB44-B951BE585A8E}"/>
              </a:ext>
            </a:extLst>
          </p:cNvPr>
          <p:cNvSpPr txBox="1"/>
          <p:nvPr/>
        </p:nvSpPr>
        <p:spPr>
          <a:xfrm>
            <a:off x="4231438" y="4434367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FF818D-16DA-42FA-8BB4-9FBC0895C6C2}"/>
              </a:ext>
            </a:extLst>
          </p:cNvPr>
          <p:cNvSpPr txBox="1"/>
          <p:nvPr/>
        </p:nvSpPr>
        <p:spPr>
          <a:xfrm>
            <a:off x="4231438" y="4832212"/>
            <a:ext cx="68808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(1,2) = 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5B6C81-9051-47F4-A240-8278FBA9A4B0}"/>
                  </a:ext>
                </a:extLst>
              </p:cNvPr>
              <p:cNvSpPr txBox="1"/>
              <p:nvPr/>
            </p:nvSpPr>
            <p:spPr>
              <a:xfrm>
                <a:off x="4399612" y="5245753"/>
                <a:ext cx="1947648" cy="854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5B6C81-9051-47F4-A240-8278FBA9A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12" y="5245753"/>
                <a:ext cx="1947648" cy="8545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2C6C26D-9BF3-4045-8CCA-C6C1ED813064}"/>
              </a:ext>
            </a:extLst>
          </p:cNvPr>
          <p:cNvSpPr txBox="1"/>
          <p:nvPr/>
        </p:nvSpPr>
        <p:spPr>
          <a:xfrm>
            <a:off x="4231438" y="6144555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80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74A7C9-A439-4240-B996-3DC72643AFFA}"/>
              </a:ext>
            </a:extLst>
          </p:cNvPr>
          <p:cNvSpPr txBox="1"/>
          <p:nvPr/>
        </p:nvSpPr>
        <p:spPr>
          <a:xfrm>
            <a:off x="7356366" y="1436516"/>
            <a:ext cx="6789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(2,0) = 60</a:t>
            </a:r>
          </a:p>
        </p:txBody>
      </p:sp>
      <p:cxnSp>
        <p:nvCxnSpPr>
          <p:cNvPr id="42" name="Google Shape;209;p43">
            <a:extLst>
              <a:ext uri="{FF2B5EF4-FFF2-40B4-BE49-F238E27FC236}">
                <a16:creationId xmlns:a16="http://schemas.microsoft.com/office/drawing/2014/main" id="{67E05931-AF62-4886-B9D4-45AF82D79698}"/>
              </a:ext>
            </a:extLst>
          </p:cNvPr>
          <p:cNvCxnSpPr>
            <a:cxnSpLocks/>
          </p:cNvCxnSpPr>
          <p:nvPr/>
        </p:nvCxnSpPr>
        <p:spPr>
          <a:xfrm>
            <a:off x="6900399" y="1393949"/>
            <a:ext cx="0" cy="475060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BAEF07-AC6A-4B18-8A22-60DFC96E68FF}"/>
                  </a:ext>
                </a:extLst>
              </p:cNvPr>
              <p:cNvSpPr txBox="1"/>
              <p:nvPr/>
            </p:nvSpPr>
            <p:spPr>
              <a:xfrm>
                <a:off x="7411221" y="1870078"/>
                <a:ext cx="1947648" cy="882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BAEF07-AC6A-4B18-8A22-60DFC96E6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221" y="1870078"/>
                <a:ext cx="1947648" cy="8824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C36CA51-892E-4C01-946F-8ADA66167537}"/>
              </a:ext>
            </a:extLst>
          </p:cNvPr>
          <p:cNvSpPr txBox="1"/>
          <p:nvPr/>
        </p:nvSpPr>
        <p:spPr>
          <a:xfrm>
            <a:off x="7252279" y="2758562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60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94D5ED-0675-4C6E-A05A-1EEE440076A2}"/>
              </a:ext>
            </a:extLst>
          </p:cNvPr>
          <p:cNvSpPr txBox="1"/>
          <p:nvPr/>
        </p:nvSpPr>
        <p:spPr>
          <a:xfrm>
            <a:off x="7357448" y="3177854"/>
            <a:ext cx="7772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(2,1) = 180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DBD091-E061-4DDE-B76B-3A26CE88296D}"/>
                  </a:ext>
                </a:extLst>
              </p:cNvPr>
              <p:cNvSpPr txBox="1"/>
              <p:nvPr/>
            </p:nvSpPr>
            <p:spPr>
              <a:xfrm>
                <a:off x="7473010" y="3553723"/>
                <a:ext cx="1947648" cy="882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DBD091-E061-4DDE-B76B-3A26CE88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010" y="3553723"/>
                <a:ext cx="1947648" cy="8824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766C60E-E91F-412D-9C22-70E609F11055}"/>
              </a:ext>
            </a:extLst>
          </p:cNvPr>
          <p:cNvSpPr txBox="1"/>
          <p:nvPr/>
        </p:nvSpPr>
        <p:spPr>
          <a:xfrm>
            <a:off x="7274637" y="4450263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60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21090F-54F8-4EEC-B5FD-950121CDD864}"/>
              </a:ext>
            </a:extLst>
          </p:cNvPr>
          <p:cNvSpPr txBox="1"/>
          <p:nvPr/>
        </p:nvSpPr>
        <p:spPr>
          <a:xfrm>
            <a:off x="7266658" y="4820874"/>
            <a:ext cx="82638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Pixel (2,2) = 140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F02557-14B4-4A1E-8035-9A9F32A5FF77}"/>
                  </a:ext>
                </a:extLst>
              </p:cNvPr>
              <p:cNvSpPr txBox="1"/>
              <p:nvPr/>
            </p:nvSpPr>
            <p:spPr>
              <a:xfrm>
                <a:off x="7512129" y="5212882"/>
                <a:ext cx="1947648" cy="882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F02557-14B4-4A1E-8035-9A9F32A5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129" y="5212882"/>
                <a:ext cx="1947648" cy="8824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001D4689-3CDD-4551-B790-A216B76A7625}"/>
              </a:ext>
            </a:extLst>
          </p:cNvPr>
          <p:cNvSpPr txBox="1"/>
          <p:nvPr/>
        </p:nvSpPr>
        <p:spPr>
          <a:xfrm>
            <a:off x="7266658" y="6136703"/>
            <a:ext cx="1236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 = 90</a:t>
            </a:r>
          </a:p>
        </p:txBody>
      </p:sp>
    </p:spTree>
    <p:extLst>
      <p:ext uri="{BB962C8B-B14F-4D97-AF65-F5344CB8AC3E}">
        <p14:creationId xmlns:p14="http://schemas.microsoft.com/office/powerpoint/2010/main" val="81963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39946" y="100880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1262181" y="208804"/>
            <a:ext cx="3217200" cy="7385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1955019" y="7480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DC1157-84B8-426E-853A-3F157FC94858}"/>
                  </a:ext>
                </a:extLst>
              </p:cNvPr>
              <p:cNvSpPr txBox="1"/>
              <p:nvPr/>
            </p:nvSpPr>
            <p:spPr>
              <a:xfrm>
                <a:off x="2367859" y="2567802"/>
                <a:ext cx="1947649" cy="8611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150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200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140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DC1157-84B8-426E-853A-3F157FC94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859" y="2567802"/>
                <a:ext cx="1947649" cy="861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5BE7906-51F6-4520-B5C0-5D2F6EF5F882}"/>
              </a:ext>
            </a:extLst>
          </p:cNvPr>
          <p:cNvCxnSpPr/>
          <p:nvPr/>
        </p:nvCxnSpPr>
        <p:spPr>
          <a:xfrm>
            <a:off x="5064369" y="2998401"/>
            <a:ext cx="1308295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E8F3C1-BAEB-4704-8B44-2E27D5082125}"/>
                  </a:ext>
                </a:extLst>
              </p:cNvPr>
              <p:cNvSpPr txBox="1"/>
              <p:nvPr/>
            </p:nvSpPr>
            <p:spPr>
              <a:xfrm>
                <a:off x="7121525" y="2567802"/>
                <a:ext cx="1500411" cy="854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1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80</m:t>
                            </m:r>
                          </m:e>
                        </m:mr>
                        <m:mr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en-US" sz="21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90</m:t>
                            </m:r>
                          </m:e>
                        </m:mr>
                      </m:m>
                    </m:oMath>
                  </m:oMathPara>
                </a14:m>
                <a:endParaRPr lang="en-US" sz="21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E8F3C1-BAEB-4704-8B44-2E27D5082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525" y="2567802"/>
                <a:ext cx="1500411" cy="854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45F40DFB-5BED-4596-A59F-1E9B5016D00F}"/>
              </a:ext>
            </a:extLst>
          </p:cNvPr>
          <p:cNvSpPr txBox="1"/>
          <p:nvPr/>
        </p:nvSpPr>
        <p:spPr>
          <a:xfrm>
            <a:off x="2468880" y="4189599"/>
            <a:ext cx="67946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Kết quả: vùng tối (60, 80, 90) được mở rộng, còn các pixel sáng (200, 150</a:t>
            </a:r>
            <a:r>
              <a:rPr lang="en-US" sz="21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,180</a:t>
            </a:r>
            <a:r>
              <a:rPr lang="vi-VN" sz="21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vi-VN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bị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suy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giảm</a:t>
            </a:r>
            <a:endParaRPr lang="en-US" sz="21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89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5013774" y="4205929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397693" y="438333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4814333" y="4337729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5341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C2B3C8B1-577D-9C65-CBBA-2F0DCF63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324938F7-2AC1-0E6E-D65A-24ADC6BAE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4611" y="44169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854A958A-BC13-9FB9-D24D-A8F18C3248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216111" y="21989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83F7F6D5-2C15-8273-F7EC-BA310B81B842}"/>
              </a:ext>
            </a:extLst>
          </p:cNvPr>
          <p:cNvCxnSpPr/>
          <p:nvPr/>
        </p:nvCxnSpPr>
        <p:spPr>
          <a:xfrm>
            <a:off x="2246625" y="17429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A64E1EA-650D-3285-65FA-18094F280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193" y="2475091"/>
            <a:ext cx="122087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Khử nhiễu muối tiêu (salt noise):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Rất hiệu quả khi ảnh có nhiễu dạng “điểm trắng” trên nền tối.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Tiền xử lý OCR: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Làm mảnh ký tự và loại bỏ điểm sáng dư thừa trước khi nhận dạng chữ.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Xử lý ảnh y tế (X-ray, MRI):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Giảm điểm sáng nhỏ bất thường, làm rõ đường viền.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Phân đoạn ảnh (segmentation):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Làm mượt vùng tối, giảm các điểm sáng rời rạc.</a:t>
            </a:r>
          </a:p>
        </p:txBody>
      </p:sp>
      <p:sp>
        <p:nvSpPr>
          <p:cNvPr id="5" name="Google Shape;206;p43">
            <a:extLst>
              <a:ext uri="{FF2B5EF4-FFF2-40B4-BE49-F238E27FC236}">
                <a16:creationId xmlns:a16="http://schemas.microsoft.com/office/drawing/2014/main" id="{E8F74436-5B07-CB80-BE9C-8DE74892AAAC}"/>
              </a:ext>
            </a:extLst>
          </p:cNvPr>
          <p:cNvSpPr txBox="1">
            <a:spLocks/>
          </p:cNvSpPr>
          <p:nvPr/>
        </p:nvSpPr>
        <p:spPr>
          <a:xfrm>
            <a:off x="751193" y="1676691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 sz="3200" dirty="0"/>
              <a:t>1. </a:t>
            </a:r>
            <a:r>
              <a:rPr lang="en-US" sz="3200" dirty="0" err="1"/>
              <a:t>Lọc</a:t>
            </a:r>
            <a:r>
              <a:rPr lang="en-US" sz="3200" dirty="0"/>
              <a:t> </a:t>
            </a:r>
            <a:r>
              <a:rPr lang="en-US" sz="3200" dirty="0" err="1"/>
              <a:t>cực</a:t>
            </a:r>
            <a:r>
              <a:rPr lang="en-US" sz="3200" dirty="0"/>
              <a:t> </a:t>
            </a:r>
            <a:r>
              <a:rPr lang="en-US" sz="3200" dirty="0" err="1"/>
              <a:t>tiểu</a:t>
            </a:r>
            <a:r>
              <a:rPr lang="en-US" sz="3200" dirty="0"/>
              <a:t> </a:t>
            </a:r>
          </a:p>
        </p:txBody>
      </p:sp>
      <p:pic>
        <p:nvPicPr>
          <p:cNvPr id="1029" name="Picture 5" descr="The Difference Between an MRI, Ultrasound, X-Ray, &amp; CT Scan">
            <a:extLst>
              <a:ext uri="{FF2B5EF4-FFF2-40B4-BE49-F238E27FC236}">
                <a16:creationId xmlns:a16="http://schemas.microsoft.com/office/drawing/2014/main" id="{2A64E036-E145-91E2-72A5-967501406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47" y="3789324"/>
            <a:ext cx="2757055" cy="275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3 loại phân đoạn hình ảnh cần biết trong chú thích dữ liệu">
            <a:extLst>
              <a:ext uri="{FF2B5EF4-FFF2-40B4-BE49-F238E27FC236}">
                <a16:creationId xmlns:a16="http://schemas.microsoft.com/office/drawing/2014/main" id="{49508D78-4A5E-3EFD-16FA-C3C52A2C9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633818" cy="163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A19A0-4CB8-E479-CD3C-8AE598FD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506" y="3789324"/>
            <a:ext cx="6819405" cy="26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00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63630B8E-C5A5-6A1E-136C-4DC56B66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615C4536-DAC4-B789-C528-99D0F83EB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4611" y="44169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B50138F2-C103-D169-8218-9219CC03F87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216111" y="21989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B5AA8F2C-9AC1-40B4-D1D9-8AF39AB767C8}"/>
              </a:ext>
            </a:extLst>
          </p:cNvPr>
          <p:cNvCxnSpPr/>
          <p:nvPr/>
        </p:nvCxnSpPr>
        <p:spPr>
          <a:xfrm>
            <a:off x="2246625" y="17429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Google Shape;206;p43">
            <a:extLst>
              <a:ext uri="{FF2B5EF4-FFF2-40B4-BE49-F238E27FC236}">
                <a16:creationId xmlns:a16="http://schemas.microsoft.com/office/drawing/2014/main" id="{CB8124A3-5ECD-1E2C-D240-5084FFA69E45}"/>
              </a:ext>
            </a:extLst>
          </p:cNvPr>
          <p:cNvSpPr txBox="1">
            <a:spLocks/>
          </p:cNvSpPr>
          <p:nvPr/>
        </p:nvSpPr>
        <p:spPr>
          <a:xfrm>
            <a:off x="751193" y="1676691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 sz="3200" dirty="0"/>
              <a:t>2. </a:t>
            </a:r>
            <a:r>
              <a:rPr lang="en-US" sz="3200" dirty="0" err="1"/>
              <a:t>Lọc</a:t>
            </a:r>
            <a:r>
              <a:rPr lang="en-US" sz="3200" dirty="0"/>
              <a:t> </a:t>
            </a:r>
            <a:r>
              <a:rPr lang="en-US" sz="3200" dirty="0" err="1"/>
              <a:t>cực</a:t>
            </a:r>
            <a:r>
              <a:rPr lang="en-US" sz="3200" dirty="0"/>
              <a:t> </a:t>
            </a:r>
            <a:r>
              <a:rPr lang="en-US" sz="3200" dirty="0" err="1"/>
              <a:t>đại</a:t>
            </a:r>
            <a:endParaRPr lang="en-US" sz="3200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E6A99D0-14D1-F176-5613-CFAC462B0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09" y="2527104"/>
            <a:ext cx="109385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Khử nhiễu muối tiêu (pepper noise):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Xóa các điểm đen trên nền sáng.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Làm dày ký tự/đường viền: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Trong OCR hay xử lý ảnh tài liệu để tăng khả năng nhận dạng.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Ảnh vệ tinh: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Tăng cường các đối tượng sáng (ví dụ: đèn đường, tòa nhà).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Ảnh y tế: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Làm rõ cấu trúc sáng (mạch máu, xương) khi cần.</a:t>
            </a:r>
            <a:endParaRPr lang="vi-VN" altLang="vi-V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vi-VN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Làm Phông Chữ </a:t>
            </a:r>
            <a:r>
              <a:rPr lang="vi-VN" altLang="vi-VN" dirty="0">
                <a:solidFill>
                  <a:schemeClr val="bg1"/>
                </a:solidFill>
                <a:latin typeface="Arial" panose="020B0604020202020204" pitchFamily="34" charset="0"/>
              </a:rPr>
              <a:t>: tạo ra những font chữ dựa trên cách lọc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D4CB18-45C5-9FB2-B776-DED1A0A7C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96" y="4554769"/>
            <a:ext cx="3217201" cy="1562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2808F1-B473-4EEB-21CB-F005D56DF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509" y="4281430"/>
            <a:ext cx="3716590" cy="2264229"/>
          </a:xfrm>
          <a:prstGeom prst="rect">
            <a:avLst/>
          </a:prstGeom>
        </p:spPr>
      </p:pic>
      <p:pic>
        <p:nvPicPr>
          <p:cNvPr id="1034" name="Picture 10" descr="X-Ray - Florida MRI - MDN Group MRI Center">
            <a:extLst>
              <a:ext uri="{FF2B5EF4-FFF2-40B4-BE49-F238E27FC236}">
                <a16:creationId xmlns:a16="http://schemas.microsoft.com/office/drawing/2014/main" id="{77C564B5-F1E9-1D99-FF1C-D00253C84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611" y="4557187"/>
            <a:ext cx="3623593" cy="171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46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FDD7999A-5AF0-F3CD-BC5A-EA2517AA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6AF4EA17-8F9B-1603-028A-DA1AAA92E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4611" y="441693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3BFF6067-E61E-DDBA-3D2C-FF70CFF7C6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216111" y="21989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E2199B36-F097-C80F-700B-B690E4EA1FEF}"/>
              </a:ext>
            </a:extLst>
          </p:cNvPr>
          <p:cNvCxnSpPr/>
          <p:nvPr/>
        </p:nvCxnSpPr>
        <p:spPr>
          <a:xfrm>
            <a:off x="2246625" y="174293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Google Shape;206;p43">
            <a:extLst>
              <a:ext uri="{FF2B5EF4-FFF2-40B4-BE49-F238E27FC236}">
                <a16:creationId xmlns:a16="http://schemas.microsoft.com/office/drawing/2014/main" id="{33AF3A01-9DF8-2EA8-4377-72A6306E586B}"/>
              </a:ext>
            </a:extLst>
          </p:cNvPr>
          <p:cNvSpPr txBox="1">
            <a:spLocks/>
          </p:cNvSpPr>
          <p:nvPr/>
        </p:nvSpPr>
        <p:spPr>
          <a:xfrm>
            <a:off x="751193" y="1676691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 sz="3200" dirty="0"/>
              <a:t>3.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2 </a:t>
            </a:r>
            <a:r>
              <a:rPr lang="en-US" sz="3200" dirty="0" err="1"/>
              <a:t>loại</a:t>
            </a:r>
            <a:r>
              <a:rPr lang="en-US" sz="3200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9582F-95F6-7DB4-218A-A69EA7FE6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691" y="2475091"/>
            <a:ext cx="12090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Nhận dạng biển số xe: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Làm mịn ký tự trước khi nhận dạng.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Đếm vật thể: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Làm sạch vùng nền, tách các đối tượng.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Thị giác robot: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Tiền xử lý để robot dễ phân biệt vật thể với nền.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Ảnh y sinh: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Phân tách tế bào, mạch máu, khối 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05E7D-48DA-EED8-4972-352B3DD1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4" y="4409165"/>
            <a:ext cx="2769062" cy="1842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C589B-4EB6-7CE8-B37B-F2E926766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55" y="4098914"/>
            <a:ext cx="2454564" cy="216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5013774" y="4605129"/>
            <a:ext cx="4091600" cy="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Code &amp; Demo</a:t>
            </a:r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397693" y="4383333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4814333" y="4337729"/>
            <a:ext cx="0" cy="1333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10815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43"/>
          <p:cNvCxnSpPr>
            <a:cxnSpLocks/>
          </p:cNvCxnSpPr>
          <p:nvPr/>
        </p:nvCxnSpPr>
        <p:spPr>
          <a:xfrm>
            <a:off x="1966943" y="338779"/>
            <a:ext cx="0" cy="124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07;p43">
            <a:extLst>
              <a:ext uri="{FF2B5EF4-FFF2-40B4-BE49-F238E27FC236}">
                <a16:creationId xmlns:a16="http://schemas.microsoft.com/office/drawing/2014/main" id="{CA241D64-C5BD-42B7-B773-131E51DF1AC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250257" y="338779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713D78-14A0-4FB3-9338-FB696DE78B4A}"/>
              </a:ext>
            </a:extLst>
          </p:cNvPr>
          <p:cNvSpPr/>
          <p:nvPr/>
        </p:nvSpPr>
        <p:spPr>
          <a:xfrm>
            <a:off x="10469789" y="292112"/>
            <a:ext cx="1219200" cy="1335333"/>
          </a:xfrm>
          <a:prstGeom prst="rect">
            <a:avLst/>
          </a:prstGeom>
          <a:solidFill>
            <a:srgbClr val="0016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4A017-539F-4028-8BC0-2BAE122E2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43" y="1757546"/>
            <a:ext cx="7624536" cy="935648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CF5BAB4D-A7F1-46CC-A7C7-D012F762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247" y="3049116"/>
            <a:ext cx="4441370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np.pad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thêm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viền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ngoài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cho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mode='reflect' →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phản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chiếu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pixel ở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ngoài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Ví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dụ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hàng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[3, 4, 5] pad 1 pixel → [4, 3, 4, 5, 4].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Mục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đích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lấy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k×k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tại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ta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vẫn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có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đủ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BFD97-B7EA-4335-A065-6E20673A8D82}"/>
              </a:ext>
            </a:extLst>
          </p:cNvPr>
          <p:cNvSpPr txBox="1"/>
          <p:nvPr/>
        </p:nvSpPr>
        <p:spPr>
          <a:xfrm>
            <a:off x="2188029" y="5328643"/>
            <a:ext cx="67854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-&gt;Padding (reflect)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giúp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đảm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bảo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mỗi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pixel (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kể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cả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ở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biên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đều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có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đủ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cửa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sổ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k×k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để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tính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toán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580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43"/>
          <p:cNvCxnSpPr>
            <a:cxnSpLocks/>
          </p:cNvCxnSpPr>
          <p:nvPr/>
        </p:nvCxnSpPr>
        <p:spPr>
          <a:xfrm>
            <a:off x="1966943" y="338779"/>
            <a:ext cx="0" cy="124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07;p43">
            <a:extLst>
              <a:ext uri="{FF2B5EF4-FFF2-40B4-BE49-F238E27FC236}">
                <a16:creationId xmlns:a16="http://schemas.microsoft.com/office/drawing/2014/main" id="{CA241D64-C5BD-42B7-B773-131E51DF1AC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424429" y="352015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DCC6E3-2A8E-4133-852B-74728A281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4171" y="2552396"/>
            <a:ext cx="703605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 = k // 2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pixel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"padding" (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k=3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pad=1.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H, W =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gray.shape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img_p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gray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pad_reflect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=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np.empty_like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(gray)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rỗng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pixel (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j).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pixel,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k×k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j): window =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img_p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i:i+k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j:j+k]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out[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j]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(window)</a:t>
            </a:r>
            <a:endParaRPr lang="en-US" altLang="en-US" sz="17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C1104-A901-41CB-A59C-8552DDBA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3" y="338779"/>
            <a:ext cx="5776682" cy="2089389"/>
          </a:xfrm>
          <a:prstGeom prst="rect">
            <a:avLst/>
          </a:prstGeom>
        </p:spPr>
      </p:pic>
      <p:cxnSp>
        <p:nvCxnSpPr>
          <p:cNvPr id="9" name="Google Shape;209;p43">
            <a:extLst>
              <a:ext uri="{FF2B5EF4-FFF2-40B4-BE49-F238E27FC236}">
                <a16:creationId xmlns:a16="http://schemas.microsoft.com/office/drawing/2014/main" id="{A3A45A52-F2E2-4D49-A67B-7A8D320D06C7}"/>
              </a:ext>
            </a:extLst>
          </p:cNvPr>
          <p:cNvCxnSpPr>
            <a:cxnSpLocks/>
          </p:cNvCxnSpPr>
          <p:nvPr/>
        </p:nvCxnSpPr>
        <p:spPr>
          <a:xfrm>
            <a:off x="7083230" y="2735331"/>
            <a:ext cx="0" cy="338900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63DB72-1FF9-4072-A4BB-A731903CA9D5}"/>
              </a:ext>
            </a:extLst>
          </p:cNvPr>
          <p:cNvSpPr txBox="1"/>
          <p:nvPr/>
        </p:nvSpPr>
        <p:spPr>
          <a:xfrm>
            <a:off x="7359261" y="3658111"/>
            <a:ext cx="318225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-&gt;Max filter (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đại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→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làm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nổi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bật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sáng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khử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nhiễu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muối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7661C-2FB6-4DFC-8D1A-B295B6A27460}"/>
              </a:ext>
            </a:extLst>
          </p:cNvPr>
          <p:cNvSpPr txBox="1"/>
          <p:nvPr/>
        </p:nvSpPr>
        <p:spPr>
          <a:xfrm>
            <a:off x="7359261" y="4535274"/>
            <a:ext cx="369025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max_filter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đại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gần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giống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phép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dilate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Morphology.</a:t>
            </a:r>
          </a:p>
        </p:txBody>
      </p:sp>
    </p:spTree>
    <p:extLst>
      <p:ext uri="{BB962C8B-B14F-4D97-AF65-F5344CB8AC3E}">
        <p14:creationId xmlns:p14="http://schemas.microsoft.com/office/powerpoint/2010/main" val="294611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43"/>
          <p:cNvCxnSpPr>
            <a:cxnSpLocks/>
          </p:cNvCxnSpPr>
          <p:nvPr/>
        </p:nvCxnSpPr>
        <p:spPr>
          <a:xfrm>
            <a:off x="1966943" y="338779"/>
            <a:ext cx="0" cy="124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07;p43">
            <a:extLst>
              <a:ext uri="{FF2B5EF4-FFF2-40B4-BE49-F238E27FC236}">
                <a16:creationId xmlns:a16="http://schemas.microsoft.com/office/drawing/2014/main" id="{CA241D64-C5BD-42B7-B773-131E51DF1AC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1424429" y="352015"/>
            <a:ext cx="3217200" cy="12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DCC6E3-2A8E-4133-852B-74728A281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2577" y="2664227"/>
            <a:ext cx="8265624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 = k // 2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pixel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"padding"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k=3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pad=1.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H, W =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gray.shape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img_p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gray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pad_reflect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 =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np.empty_like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(gray)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rỗng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pixel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j).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pixel,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k×k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j): 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 = 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img_p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i:i+k</a:t>
            </a:r>
            <a: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j:j+k]</a:t>
            </a:r>
            <a:br>
              <a:rPr lang="en-US" alt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out[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j]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(window)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Google Shape;209;p43">
            <a:extLst>
              <a:ext uri="{FF2B5EF4-FFF2-40B4-BE49-F238E27FC236}">
                <a16:creationId xmlns:a16="http://schemas.microsoft.com/office/drawing/2014/main" id="{A3A45A52-F2E2-4D49-A67B-7A8D320D06C7}"/>
              </a:ext>
            </a:extLst>
          </p:cNvPr>
          <p:cNvCxnSpPr>
            <a:cxnSpLocks/>
          </p:cNvCxnSpPr>
          <p:nvPr/>
        </p:nvCxnSpPr>
        <p:spPr>
          <a:xfrm>
            <a:off x="8447572" y="3287567"/>
            <a:ext cx="0" cy="338900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63DB72-1FF9-4072-A4BB-A731903CA9D5}"/>
              </a:ext>
            </a:extLst>
          </p:cNvPr>
          <p:cNvSpPr txBox="1"/>
          <p:nvPr/>
        </p:nvSpPr>
        <p:spPr>
          <a:xfrm>
            <a:off x="8588829" y="3429000"/>
            <a:ext cx="318225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-&gt;Min filter (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tiểu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→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làm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nổi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bật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tối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khử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nhiễu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tiêu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2F248-71C6-4741-B9F1-2B29461D7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21714"/>
            <a:ext cx="5283457" cy="2068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27509E-FF29-4C90-B72C-876A65120949}"/>
              </a:ext>
            </a:extLst>
          </p:cNvPr>
          <p:cNvSpPr txBox="1"/>
          <p:nvPr/>
        </p:nvSpPr>
        <p:spPr>
          <a:xfrm>
            <a:off x="8661144" y="3972277"/>
            <a:ext cx="2456543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min_filter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lọc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cực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tiểu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gần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giống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phép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erode </a:t>
            </a:r>
            <a:r>
              <a:rPr lang="en-US" sz="17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trong</a:t>
            </a: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Morphology</a:t>
            </a:r>
          </a:p>
        </p:txBody>
      </p:sp>
    </p:spTree>
    <p:extLst>
      <p:ext uri="{BB962C8B-B14F-4D97-AF65-F5344CB8AC3E}">
        <p14:creationId xmlns:p14="http://schemas.microsoft.com/office/powerpoint/2010/main" val="268048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2;p38">
            <a:extLst>
              <a:ext uri="{FF2B5EF4-FFF2-40B4-BE49-F238E27FC236}">
                <a16:creationId xmlns:a16="http://schemas.microsoft.com/office/drawing/2014/main" id="{417035A0-8012-4D73-9206-6663D21C8ED5}"/>
              </a:ext>
            </a:extLst>
          </p:cNvPr>
          <p:cNvSpPr txBox="1">
            <a:spLocks/>
          </p:cNvSpPr>
          <p:nvPr/>
        </p:nvSpPr>
        <p:spPr>
          <a:xfrm>
            <a:off x="209550" y="2999200"/>
            <a:ext cx="11772900" cy="8596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</a:p>
          <a:p>
            <a:pPr algn="ctr"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Cực_đại_cực_tiểu</Template>
  <TotalTime>0</TotalTime>
  <Words>1511</Words>
  <Application>Microsoft Office PowerPoint</Application>
  <PresentationFormat>Widescreen</PresentationFormat>
  <Paragraphs>143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Chat Box AI</vt:lpstr>
      <vt:lpstr>01</vt:lpstr>
      <vt:lpstr>Lý thuyết  </vt:lpstr>
      <vt:lpstr>Lý thuyết  </vt:lpstr>
      <vt:lpstr>Lý thuyết  </vt:lpstr>
      <vt:lpstr>Lý thuyết  </vt:lpstr>
      <vt:lpstr>Lý thuyết  </vt:lpstr>
      <vt:lpstr>Lý thuyết  </vt:lpstr>
      <vt:lpstr>Lý thuyết  </vt:lpstr>
      <vt:lpstr>Lý thuyết  </vt:lpstr>
      <vt:lpstr>Ứng dụng </vt:lpstr>
      <vt:lpstr>Ứng dụng </vt:lpstr>
      <vt:lpstr>Ứng dụng </vt:lpstr>
      <vt:lpstr>Ứng dụng </vt:lpstr>
      <vt:lpstr>Code &amp; Demo</vt:lpstr>
      <vt:lpstr>03</vt:lpstr>
      <vt:lpstr>03</vt:lpstr>
      <vt:lpstr>03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Box AI</dc:title>
  <dc:creator>Trần Phạm Minh Đức -</dc:creator>
  <cp:lastModifiedBy>Trần Phạm Minh Đức -</cp:lastModifiedBy>
  <cp:revision>1</cp:revision>
  <dcterms:created xsi:type="dcterms:W3CDTF">2025-11-16T06:10:50Z</dcterms:created>
  <dcterms:modified xsi:type="dcterms:W3CDTF">2025-11-16T06:11:25Z</dcterms:modified>
</cp:coreProperties>
</file>